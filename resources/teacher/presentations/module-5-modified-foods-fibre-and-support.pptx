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bf45f2601d4c59" /><Relationship Type="http://schemas.openxmlformats.org/officeDocument/2006/relationships/extended-properties" Target="/docProps/app.xml" Id="R2717c6bc68454e3b" /><Relationship Type="http://schemas.openxmlformats.org/officeDocument/2006/relationships/officeDocument" Target="/ppt/presentation.xml" Id="Rb8e7b7e878a149a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f50593fc1184c98"/>
  </p:sldMasterIdLst>
  <p:notesMasterIdLst>
    <p:notesMasterId xmlns:r="http://schemas.openxmlformats.org/officeDocument/2006/relationships" r:id="R4eb7bb78a5dd454b"/>
  </p:notesMasterIdLst>
  <p:sldIdLst>
    <p:sldId xmlns:r="http://schemas.openxmlformats.org/officeDocument/2006/relationships" id="256" r:id="Rfb6dd2404a3b44ac"/>
    <p:sldId xmlns:r="http://schemas.openxmlformats.org/officeDocument/2006/relationships" id="257" r:id="Ra4023764fe4d4a25"/>
    <p:sldId xmlns:r="http://schemas.openxmlformats.org/officeDocument/2006/relationships" id="258" r:id="Rf35e1bfe62ce4a58"/>
    <p:sldId xmlns:r="http://schemas.openxmlformats.org/officeDocument/2006/relationships" id="259" r:id="Rcffb7f5eaa0a4ba0"/>
    <p:sldId xmlns:r="http://schemas.openxmlformats.org/officeDocument/2006/relationships" id="260" r:id="R623fbbf2e5d94a52"/>
    <p:sldId xmlns:r="http://schemas.openxmlformats.org/officeDocument/2006/relationships" id="261" r:id="Rc4a3c02ce8c9479b"/>
    <p:sldId xmlns:r="http://schemas.openxmlformats.org/officeDocument/2006/relationships" id="262" r:id="R47b19b69784b4f99"/>
    <p:sldId xmlns:r="http://schemas.openxmlformats.org/officeDocument/2006/relationships" id="263" r:id="Rf76847b61b3741b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fdd6ac9f6e8433f" /><Relationship Type="http://schemas.openxmlformats.org/officeDocument/2006/relationships/slideMaster" Target="/ppt/slideMasters/slideMaster1.xml" Id="R0f50593fc1184c98" /><Relationship Type="http://schemas.openxmlformats.org/officeDocument/2006/relationships/notesMaster" Target="/ppt/notesMasters/notesMaster1.xml" Id="R4eb7bb78a5dd454b" /><Relationship Type="http://schemas.openxmlformats.org/officeDocument/2006/relationships/presProps" Target="/ppt/presProps.xml" Id="R27c4f0668f544a15" /><Relationship Type="http://schemas.openxmlformats.org/officeDocument/2006/relationships/tableStyles" Target="/ppt/tableStyles.xml" Id="R8ce457a581294717" /><Relationship Type="http://schemas.openxmlformats.org/officeDocument/2006/relationships/slide" Target="/ppt/slides/slide1.xml" Id="Rfb6dd2404a3b44ac" /><Relationship Type="http://schemas.openxmlformats.org/officeDocument/2006/relationships/slide" Target="/ppt/slides/slide2.xml" Id="Ra4023764fe4d4a25" /><Relationship Type="http://schemas.openxmlformats.org/officeDocument/2006/relationships/slide" Target="/ppt/slides/slide3.xml" Id="Rf35e1bfe62ce4a58" /><Relationship Type="http://schemas.openxmlformats.org/officeDocument/2006/relationships/slide" Target="/ppt/slides/slide4.xml" Id="Rcffb7f5eaa0a4ba0" /><Relationship Type="http://schemas.openxmlformats.org/officeDocument/2006/relationships/slide" Target="/ppt/slides/slide5.xml" Id="R623fbbf2e5d94a52" /><Relationship Type="http://schemas.openxmlformats.org/officeDocument/2006/relationships/slide" Target="/ppt/slides/slide6.xml" Id="Rc4a3c02ce8c9479b" /><Relationship Type="http://schemas.openxmlformats.org/officeDocument/2006/relationships/slide" Target="/ppt/slides/slide7.xml" Id="R47b19b69784b4f99" /><Relationship Type="http://schemas.openxmlformats.org/officeDocument/2006/relationships/slide" Target="/ppt/slides/slide8.xml" Id="Rf76847b61b3741b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be7a59dd96148b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cd67f5ebe834a0c" /><Relationship Type="http://schemas.openxmlformats.org/officeDocument/2006/relationships/notesMaster" Target="/ppt/notesMasters/notesMaster1.xml" Id="R55425460ca6b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25a0b9581d04b34" /><Relationship Type="http://schemas.openxmlformats.org/officeDocument/2006/relationships/notesMaster" Target="/ppt/notesMasters/notesMaster1.xml" Id="Rd8b905f8cf2b4d3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1c5959c36ac44e6" /><Relationship Type="http://schemas.openxmlformats.org/officeDocument/2006/relationships/notesMaster" Target="/ppt/notesMasters/notesMaster1.xml" Id="R796d265032ce411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e53fdb1e194bfb" /><Relationship Type="http://schemas.openxmlformats.org/officeDocument/2006/relationships/notesMaster" Target="/ppt/notesMasters/notesMaster1.xml" Id="Rfd9387eb96204fb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ffdc8de56284f13" /><Relationship Type="http://schemas.openxmlformats.org/officeDocument/2006/relationships/notesMaster" Target="/ppt/notesMasters/notesMaster1.xml" Id="Rd0af2e78996f4507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a9bab37d244558" /><Relationship Type="http://schemas.openxmlformats.org/officeDocument/2006/relationships/notesMaster" Target="/ppt/notesMasters/notesMaster1.xml" Id="R33db8434ce454bd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5f47ea4bec64bad" /><Relationship Type="http://schemas.openxmlformats.org/officeDocument/2006/relationships/notesMaster" Target="/ppt/notesMasters/notesMaster1.xml" Id="Rbdd63915ddfc4b8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a1795c4512b4696" /><Relationship Type="http://schemas.openxmlformats.org/officeDocument/2006/relationships/notesMaster" Target="/ppt/notesMasters/notesMaster1.xml" Id="R5356800f6c3446a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5e942dce0b418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29251a115b44c5" /><Relationship Type="http://schemas.openxmlformats.org/officeDocument/2006/relationships/slideLayout" Target="/ppt/slideLayouts/slideLayout1.xml" Id="R539afbe1910b428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39afbe1910b428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90dbfb605f4cf2" /><Relationship Type="http://schemas.openxmlformats.org/officeDocument/2006/relationships/notesSlide" Target="/ppt/notesSlides/notesSlide1.xml" Id="R9406645d726c406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b72f10edec4861" /><Relationship Type="http://schemas.openxmlformats.org/officeDocument/2006/relationships/notesSlide" Target="/ppt/notesSlides/notesSlide2.xml" Id="R96be611a9e014f4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dbe6bf952149e2" /><Relationship Type="http://schemas.openxmlformats.org/officeDocument/2006/relationships/notesSlide" Target="/ppt/notesSlides/notesSlide3.xml" Id="Rf5ec283d15ed4df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68a43322204f17" /><Relationship Type="http://schemas.openxmlformats.org/officeDocument/2006/relationships/notesSlide" Target="/ppt/notesSlides/notesSlide4.xml" Id="R8e98660beb6646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cd9d6f24f74fa1" /><Relationship Type="http://schemas.openxmlformats.org/officeDocument/2006/relationships/notesSlide" Target="/ppt/notesSlides/notesSlide5.xml" Id="R08d6088e8f244d2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ecdfbdd7a440dc" /><Relationship Type="http://schemas.openxmlformats.org/officeDocument/2006/relationships/notesSlide" Target="/ppt/notesSlides/notesSlide6.xml" Id="Ra1455ac72d314d6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e95516393f44299" /><Relationship Type="http://schemas.openxmlformats.org/officeDocument/2006/relationships/notesSlide" Target="/ppt/notesSlides/notesSlide7.xml" Id="Re2e8e6f616684b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a62774648e4825" /><Relationship Type="http://schemas.openxmlformats.org/officeDocument/2006/relationships/notesSlide" Target="/ppt/notesSlides/notesSlide8.xml" Id="Rfa10ba2408ab4f7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F6B4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445724-7D57-4B4E-B836-F5C13059D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-1143000"/>
            <a:ext cx="4095750" cy="4095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551AF-A46C-4DE9-B03C-16D4DA58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714750"/>
            <a:ext cx="3429000" cy="3429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18756C-6620-4D34-AB93-4937B632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857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D4A945"/>
                </a:solidFill>
              </a:defRPr>
            </a:pPr>
            <a:r>
              <a:rPr sz="1350" b="1">
                <a:solidFill>
                  <a:srgbClr val="D4A945"/>
                </a:solidFill>
              </a:rPr>
              <a:t>MODULE 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138CC5-780D-47F9-9D2F-6B544C4E6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24000"/>
            <a:ext cx="72390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Modified foods, fibre and support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2252D9-40E9-491E-8687-FC3C501DD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05250"/>
            <a:ext cx="7239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How can claims and support sources be evaluated before they influence a food decision?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87D9A8-B1EF-4317-8270-8DE324DC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81025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8F0E9"/>
                </a:solidFill>
              </a:defRPr>
            </a:pPr>
            <a:r>
              <a:rPr sz="1350" b="1">
                <a:solidFill>
                  <a:srgbClr val="E8F0E9"/>
                </a:solidFill>
              </a:rPr>
              <a:t>Food Technology · Year 9 Term 2</a:t>
            </a:r>
          </a:p>
        </p:txBody>
      </p:sp>
    </p:spTree>
    <p:extLst>
      <p:ext uri="{BB962C8B-B14F-4D97-AF65-F5344CB8AC3E}">
        <p14:creationId xmlns:p14="http://schemas.microsoft.com/office/powerpoint/2010/main" val="14812483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8B5DCF-3E07-4B66-BCA2-2CB2751C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D95E6-4B3C-43A9-9631-3C73D9A8A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Purpose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1B9435-487F-41AA-AFEB-10BA2F78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4AC1DE5-630D-4303-9EFC-194ADADC0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The question that drives this module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4A347E-81B0-4601-81B7-15B220783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171450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5B8F67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560393-A1E4-40D2-8906-72F384F89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114550"/>
            <a:ext cx="9906000" cy="895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2F6B4F"/>
                </a:solidFill>
              </a:defRPr>
            </a:pPr>
            <a:r>
              <a:rPr sz="2700" b="1">
                <a:solidFill>
                  <a:srgbClr val="2F6B4F"/>
                </a:solidFill>
              </a:rPr>
              <a:t>How can claims and support sources be evaluated before they influence a food decision?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C2331A-A498-4C99-A77D-A62442C5E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72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924D5B"/>
                </a:solidFill>
              </a:defRPr>
            </a:pPr>
            <a:r>
              <a:rPr sz="2100" b="1">
                <a:solidFill>
                  <a:srgbClr val="924D5B"/>
                </a:solidFill>
              </a:rPr>
              <a:t>By the end, you should be able to…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6F1D22-E466-4E70-B8F2-CD60508BC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F9E09E-867E-43D3-AA12-BEC207849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explain the evidence boundary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6D07B3-1149-430F-9E1A-AE187F263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A51F7C-878A-493F-A407-72D509AB8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apply the idea to a food-design decision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E5D9D9E-5942-48CC-957A-BB8126D23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67250"/>
            <a:ext cx="552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D4A945"/>
                </a:solidFill>
              </a:defRPr>
            </a:pPr>
            <a:r>
              <a:rPr sz="210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C6BAFA4-2A05-4393-AFAC-659161CD4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38675"/>
            <a:ext cx="2571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43229"/>
                </a:solidFill>
              </a:defRPr>
            </a:pPr>
            <a:r>
              <a:rPr sz="1725" b="1">
                <a:solidFill>
                  <a:srgbClr val="243229"/>
                </a:solidFill>
              </a:rPr>
              <a:t>justify what must happen next</a:t>
            </a:r>
          </a:p>
        </p:txBody>
      </p:sp>
    </p:spTree>
    <p:extLst>
      <p:ext uri="{BB962C8B-B14F-4D97-AF65-F5344CB8AC3E}">
        <p14:creationId xmlns:p14="http://schemas.microsoft.com/office/powerpoint/2010/main" val="15428630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C659A63-4312-4163-BE3D-559F44D2C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16C085-BF87-429E-8AD2-489257E50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5.1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36DABF-FB78-40E1-8EB6-016F1D3F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5C097C-B5B8-4417-97F1-E476A21A0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A claim is not a conclusion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BB1E07-2D8F-4F2F-B936-24C1288EC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Modified foods have a changed nutrient profile; fortified foods have permitted vitamins or minerals added.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9297E5-96AD-4A40-8DCC-5C8C2B4B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3BD1E9-5BF3-4C86-B222-553480A19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A66C71-3EE5-46C9-B658-066CFCCF0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PERSON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E17FD2-8A14-47FE-9158-B263BB43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C8EEAA-264B-4B9E-BFA7-51E1CB06F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BDD9F54-AFE8-4C49-AA08-7A5CB7575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NEED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FCD32C3-F57F-4C75-A864-F7EA56229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0B08DE-CCFA-4AC1-9530-06E8AAD42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E1272A-1EB5-49BF-AA30-C2350C383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VERIFY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AA1A8E-3067-4A68-AE78-E54325153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2B63B0-79BC-4792-9405-47FCECCF3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Compare the claim with the panel, ingredients, serving size and brief.</a:t>
            </a:r>
          </a:p>
        </p:txBody>
      </p:sp>
    </p:spTree>
    <p:extLst>
      <p:ext uri="{BB962C8B-B14F-4D97-AF65-F5344CB8AC3E}">
        <p14:creationId xmlns:p14="http://schemas.microsoft.com/office/powerpoint/2010/main" val="20664033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B8EFE66-FBE6-4E57-B5FF-7AA8DE95D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16E3B6-A127-496D-B66C-2B4B8E409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5.2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874489-C852-4AC8-9685-CCE807876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65F03F-354B-4A67-8CB4-AD4A16DF3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Fibre comes from varied plant foods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CA9BC2-6106-4DF4-A55F-EDD48CB51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Wholegrains, legumes, vegetables, fruit, nuts and seeds contribute fibre.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C45775-48D3-415F-9D9C-3A4DCF011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6E9EC"/>
          </a:solidFill>
          <a:ln xmlns:a="http://schemas.openxmlformats.org/drawingml/2006/main" w="19050">
            <a:solidFill>
              <a:srgbClr val="924D5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9017E1-370E-4786-AC58-2981CD8E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C94AA1-EB3F-447E-9F5E-0FF94A9F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FACTOR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19F7A71-CBED-477A-867E-FEAE0EFB5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53F4F1-8867-4E7C-BF6A-771AE2465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2C0613-64C9-46C3-B7A4-90593C846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EFFECT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7046260-2878-4BA1-A695-2150E65EA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BF84DB-5B69-4503-AC0E-A7788CA91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A02043-7E41-471C-948D-E565E04C5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0430B-ED7C-4A2C-8FF8-49EAEE9F5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5CD33E4-9A0A-42F0-B4E4-48D6FC303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Reference values are population guidance, not treatment targets.</a:t>
            </a:r>
          </a:p>
        </p:txBody>
      </p:sp>
    </p:spTree>
    <p:extLst>
      <p:ext uri="{BB962C8B-B14F-4D97-AF65-F5344CB8AC3E}">
        <p14:creationId xmlns:p14="http://schemas.microsoft.com/office/powerpoint/2010/main" val="176541352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072C0-7107-4C23-9A79-55442D362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ED235A-BF52-42A7-A4AA-6C75236E6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Section 5.3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FF2703-117E-48E1-96A6-3FE316C75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67AA01-39B7-494F-80C3-894AD0216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8763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Support networks have different roles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FF014E-93CB-4FE2-83A3-19143E7A8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953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243229"/>
                </a:solidFill>
              </a:defRPr>
            </a:pPr>
            <a:r>
              <a:rPr sz="2025" b="0">
                <a:solidFill>
                  <a:srgbClr val="243229"/>
                </a:solidFill>
              </a:rPr>
              <a:t>Family, school, health professionals, emergency services and recognised organisations contribute different authority.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A801BC8-3F2E-40D2-9C31-7ADDAC251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600200"/>
            <a:ext cx="4095750" cy="3143250"/>
          </a:xfrm>
          <a:prstGeom xmlns:a="http://schemas.openxmlformats.org/drawingml/2006/main" prst="roundRect">
            <a:avLst>
              <a:gd name="adj" fmla="val 3636"/>
            </a:avLst>
          </a:prstGeom>
          <a:solidFill xmlns:a="http://schemas.openxmlformats.org/drawingml/2006/main">
            <a:srgbClr val="FFF5D8"/>
          </a:solidFill>
          <a:ln xmlns:a="http://schemas.openxmlformats.org/drawingml/2006/main" w="19050">
            <a:solidFill>
              <a:srgbClr val="D4A94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EB785D9-B69E-4B7B-A673-6651B8AB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9526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F6B4F"/>
          </a:solidFill>
          <a:ln xmlns:a="http://schemas.openxmlformats.org/drawingml/2006/main" w="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63AD75-E272-485A-804A-5DD69068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193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BRIEF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B3CDD5-C130-447F-94D2-621813938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4860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B10BA4-5910-4CF9-A6F0-95FDB1F1F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28670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E3A7BD-8117-4210-BE99-2FA1E6A10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9337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CRITERIA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E8D79BF-2083-4186-9799-BA01B7D0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3400425"/>
            <a:ext cx="571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B8F67"/>
          </a:solidFill>
          <a:ln xmlns:a="http://schemas.openxmlformats.org/drawingml/2006/main" w="0">
            <a:solidFill>
              <a:srgbClr val="5B8F67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AC90C-6735-4411-BF46-A5D3025B0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781425"/>
            <a:ext cx="495300" cy="495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4A945"/>
          </a:solidFill>
          <a:ln xmlns:a="http://schemas.openxmlformats.org/drawingml/2006/main" w="0">
            <a:solidFill>
              <a:srgbClr val="D4A94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1A0E0E1-0D7B-4990-91EB-D393EFF95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848100"/>
            <a:ext cx="219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0FB88-8698-4802-9195-EA11102C4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3524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6B4F"/>
                </a:solidFill>
              </a:defRPr>
            </a:pPr>
            <a:r>
              <a:rPr sz="1800" b="1">
                <a:solidFill>
                  <a:srgbClr val="2F6B4F"/>
                </a:solidFill>
              </a:rPr>
              <a:t>Design responsibility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AC15B1-468D-4758-AD52-86D758B36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33900"/>
            <a:ext cx="4953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43229"/>
                </a:solidFill>
              </a:defRPr>
            </a:pPr>
            <a:r>
              <a:rPr sz="1875" b="1">
                <a:solidFill>
                  <a:srgbClr val="243229"/>
                </a:solidFill>
              </a:rPr>
              <a:t>Evaluate access, evidence, currency, coordination and limits.</a:t>
            </a:r>
          </a:p>
        </p:txBody>
      </p:sp>
    </p:spTree>
    <p:extLst>
      <p:ext uri="{BB962C8B-B14F-4D97-AF65-F5344CB8AC3E}">
        <p14:creationId xmlns:p14="http://schemas.microsoft.com/office/powerpoint/2010/main" val="68836747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D4FCD8-9CA8-4E6C-A463-E617C881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D0901D-3E9D-4D8E-9DA3-87F1E41EB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Worked scenario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BAB2B7-39DF-428A-8657-90779110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ECEE31-A856-41D5-9035-90E56E6CE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191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43229"/>
                </a:solidFill>
              </a:defRPr>
            </a:pPr>
            <a:r>
              <a:rPr sz="2850" b="1">
                <a:solidFill>
                  <a:srgbClr val="243229"/>
                </a:solidFill>
              </a:rPr>
              <a:t>A decision worth slowing down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7323C-80A1-4B66-8D60-F2DDD92F8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13335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24D5B"/>
          </a:solidFill>
          <a:ln xmlns:a="http://schemas.openxmlformats.org/drawingml/2006/main" w="0">
            <a:solidFill>
              <a:srgbClr val="924D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BA9DE3-D400-4AB9-A203-C3084B96E7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14500"/>
            <a:ext cx="5905500" cy="2552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243229"/>
                </a:solidFill>
              </a:defRPr>
            </a:pPr>
            <a:r>
              <a:rPr sz="2250" b="0">
                <a:solidFill>
                  <a:srgbClr val="243229"/>
                </a:solidFill>
              </a:rPr>
              <a:t>An influencer promises that one high-fibre fortified snack will ‘fix’ digestive symptoms for every teenager.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C93280-A102-4A1F-BAA2-53AAA3B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76400"/>
            <a:ext cx="3429000" cy="2857500"/>
          </a:xfrm>
          <a:prstGeom xmlns:a="http://schemas.openxmlformats.org/drawingml/2006/main" prst="roundRect">
            <a:avLst>
              <a:gd name="adj" fmla="val 4000"/>
            </a:avLst>
          </a:prstGeom>
          <a:solidFill xmlns:a="http://schemas.openxmlformats.org/drawingml/2006/main">
            <a:srgbClr val="E8F0E9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5AB38E-C3F7-4071-A666-1B36BD96B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0478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F6B4F"/>
                </a:solidFill>
              </a:defRPr>
            </a:pPr>
            <a:r>
              <a:rPr sz="1350" b="1">
                <a:solidFill>
                  <a:srgbClr val="2F6B4F"/>
                </a:solidFill>
              </a:rPr>
              <a:t>USE THIS SEQUENCE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A4F0FD-77D4-4C0D-9ECD-15837ED9B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6193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1  Verify the need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FC866E-A69B-4B01-8624-4F04A93F6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0765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2  Trace the 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A1B6073-ECA5-480B-A138-566B69950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243229"/>
                </a:solidFill>
              </a:defRPr>
            </a:pPr>
            <a:r>
              <a:rPr sz="1650" b="0">
                <a:solidFill>
                  <a:srgbClr val="243229"/>
                </a:solidFill>
              </a:rPr>
              <a:t>3  Test the response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34EEF-5AB6-4B3B-AAED-96275A6E0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990975"/>
            <a:ext cx="266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3229"/>
                </a:solidFill>
              </a:defRPr>
            </a:pPr>
            <a:r>
              <a:rPr sz="1650" b="1">
                <a:solidFill>
                  <a:srgbClr val="243229"/>
                </a:solidFill>
              </a:rPr>
              <a:t>4  State the stop point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1A2AD77-DB2C-4754-AB4B-0AE4D556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95875"/>
            <a:ext cx="9906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24D5B"/>
                </a:solidFill>
              </a:defRPr>
            </a:pPr>
            <a:r>
              <a:rPr sz="1875" b="1">
                <a:solidFill>
                  <a:srgbClr val="924D5B"/>
                </a:solidFill>
              </a:rPr>
              <a:t>Separate the claim from evidence, identify a credible support pathway and explain the limit of classroom advice.</a:t>
            </a:r>
          </a:p>
        </p:txBody>
      </p:sp>
    </p:spTree>
    <p:extLst>
      <p:ext uri="{BB962C8B-B14F-4D97-AF65-F5344CB8AC3E}">
        <p14:creationId xmlns:p14="http://schemas.microsoft.com/office/powerpoint/2010/main" val="105212210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0B7D06-5B02-424E-B97B-12E24A2FB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F6B4F"/>
                </a:solidFill>
              </a:defRPr>
            </a:pPr>
            <a:r>
              <a:rPr sz="1050" b="1">
                <a:solidFill>
                  <a:srgbClr val="2F6B4F"/>
                </a:solidFill>
              </a:rPr>
              <a:t>FOOD FOR SPECIFIC NEEDS  ·  MODULE 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89D59FB-66F2-44B2-9C90-474CE6E6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23850"/>
            <a:ext cx="3219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47068"/>
                </a:solidFill>
              </a:defRPr>
            </a:pPr>
            <a:r>
              <a:rPr sz="1050" b="0">
                <a:solidFill>
                  <a:srgbClr val="647068"/>
                </a:solidFill>
              </a:rPr>
              <a:t>Apply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B924B3-6FE0-42B2-B1A6-D55C74963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8652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0E9"/>
          </a:solidFill>
          <a:ln xmlns:a="http://schemas.openxmlformats.org/drawingml/2006/main" w="0">
            <a:solidFill>
              <a:srgbClr val="E8F0E9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E596EB-BE91-4EF4-8D73-998D83AE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762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>
                <a:solidFill>
                  <a:srgbClr val="243229"/>
                </a:solidFill>
              </a:defRPr>
            </a:pPr>
            <a:r>
              <a:rPr sz="3000" b="1">
                <a:solidFill>
                  <a:srgbClr val="243229"/>
                </a:solidFill>
              </a:rPr>
              <a:t>Make the reasoning visible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06BFB9-2642-44F0-80EF-D4E481286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481CA0-4C61-413F-8EF4-F30D527B5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verified?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B2D8B90-0EC7-4706-A86E-1B330D1B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Name the person, need and source.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7F84E9-60BD-4630-B925-C8FE5993B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76212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924D5B"/>
                </a:solidFill>
              </a:defRPr>
            </a:pPr>
            <a:r>
              <a:rPr sz="2250" b="1">
                <a:solidFill>
                  <a:srgbClr val="924D5B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0D6EA7-EEC8-4176-9FAA-1C4D3F5CC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76212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is assumed?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B6E5D0-5068-4B48-B5D6-F98AD19A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33362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Do not disguise a guess as a fact.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589AF5-FA69-4CE7-BD9F-3D248B135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4A945"/>
                </a:solidFill>
              </a:defRPr>
            </a:pPr>
            <a:r>
              <a:rPr sz="2250" b="1">
                <a:solidFill>
                  <a:srgbClr val="D4A945"/>
                </a:solidFill>
              </a:rPr>
              <a:t>03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0112EA-E5F4-416C-8AA7-D4048E75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Which evidence matters?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5947E1-A497-493A-8AA1-F848D5A85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Use authority, currency and context.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D917EAF-9B97-4AF5-AA60-54D30D860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6667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B4F"/>
                </a:solidFill>
              </a:defRPr>
            </a:pPr>
            <a:r>
              <a:rPr sz="2250" b="1">
                <a:solidFill>
                  <a:srgbClr val="2F6B4F"/>
                </a:solidFill>
              </a:rPr>
              <a:t>04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86CCB-BF08-43CE-916D-BEB93F7FC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571875"/>
            <a:ext cx="4095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43229"/>
                </a:solidFill>
              </a:defRPr>
            </a:pPr>
            <a:r>
              <a:rPr sz="2100" b="1">
                <a:solidFill>
                  <a:srgbClr val="243229"/>
                </a:solidFill>
              </a:rPr>
              <a:t>What must happen next?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07BC73-801C-4D19-9EB3-D20E09D6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143375"/>
            <a:ext cx="40957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647068"/>
                </a:solidFill>
              </a:defRPr>
            </a:pPr>
            <a:r>
              <a:rPr sz="1575" b="0">
                <a:solidFill>
                  <a:srgbClr val="647068"/>
                </a:solidFill>
              </a:rPr>
              <a:t>Recommend, refer, improve—or stop.</a:t>
            </a:r>
          </a:p>
        </p:txBody>
      </p:sp>
    </p:spTree>
    <p:extLst>
      <p:ext uri="{BB962C8B-B14F-4D97-AF65-F5344CB8AC3E}">
        <p14:creationId xmlns:p14="http://schemas.microsoft.com/office/powerpoint/2010/main" val="18401644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4322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1E8994-53E6-4216-9058-1B7AB5EC9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7620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FFFFFF"/>
                </a:solidFill>
              </a:defRPr>
            </a:pPr>
            <a:r>
              <a:rPr sz="3150" b="1">
                <a:solidFill>
                  <a:srgbClr val="FFFFFF"/>
                </a:solidFill>
              </a:rPr>
              <a:t>Before you leave this module…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7A2887-5412-415D-B893-AAE6BA404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8858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0">
                <a:solidFill>
                  <a:srgbClr val="E8F0E9"/>
                </a:solidFill>
              </a:defRPr>
            </a:pPr>
            <a:r>
              <a:rPr sz="2400" b="0">
                <a:solidFill>
                  <a:srgbClr val="E8F0E9"/>
                </a:solidFill>
              </a:rPr>
              <a:t>Write one design decision you can now justify, the evidence behind it, and one boundary you will not cross.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62E40CD-E8C6-4985-A38B-F9C167D5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429000"/>
            <a:ext cx="107442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2F6B4F"/>
          </a:solidFill>
          <a:ln xmlns:a="http://schemas.openxmlformats.org/drawingml/2006/main" w="19050">
            <a:solidFill>
              <a:srgbClr val="2F6B4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6A465B5-95B5-43E8-A4CC-33F4EF70C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62375"/>
            <a:ext cx="10096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Evidence + context + a clear next 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FE6CAF-7C26-4A99-BFE7-3C1BE0173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86375"/>
            <a:ext cx="107442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E8F0E9"/>
                </a:solidFill>
              </a:defRPr>
            </a:pPr>
            <a:r>
              <a:rPr sz="1200" b="0">
                <a:solidFill>
                  <a:srgbClr val="E8F0E9"/>
                </a:solidFill>
              </a:rPr>
              <a:t>Sources: Eat for Health NRVs; FSANZ nutrition claims and fortification; recognised Australian support organisations.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BB58C-1FE7-4D91-A399-78FC68B4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72200"/>
            <a:ext cx="10744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4A945"/>
                </a:solidFill>
              </a:defRPr>
            </a:pPr>
            <a:r>
              <a:rPr sz="1200" b="1">
                <a:solidFill>
                  <a:srgbClr val="D4A945"/>
                </a:solidFill>
              </a:rPr>
              <a:t>Educational information only · Individual plans and school procedures take priority.</a:t>
            </a:r>
          </a:p>
        </p:txBody>
      </p:sp>
    </p:spTree>
    <p:extLst>
      <p:ext uri="{BB962C8B-B14F-4D97-AF65-F5344CB8AC3E}">
        <p14:creationId xmlns:p14="http://schemas.microsoft.com/office/powerpoint/2010/main" val="69485215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2026-08-19T00:40:16.4670000Z</dcterms:created>
  <dcterms:modified xsi:type="dcterms:W3CDTF">2026-08-19T00:40:16.4670000Z</dcterms:modified>
</coreProperties>
</file>