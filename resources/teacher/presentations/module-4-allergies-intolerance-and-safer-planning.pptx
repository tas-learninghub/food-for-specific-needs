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6265f73324b48" /><Relationship Type="http://schemas.openxmlformats.org/officeDocument/2006/relationships/extended-properties" Target="/docProps/app.xml" Id="R771fe2b0a5be4398" /><Relationship Type="http://schemas.openxmlformats.org/officeDocument/2006/relationships/officeDocument" Target="/ppt/presentation.xml" Id="Rc28bd660c9384b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4b0a20fec0496d"/>
  </p:sldMasterIdLst>
  <p:notesMasterIdLst>
    <p:notesMasterId xmlns:r="http://schemas.openxmlformats.org/officeDocument/2006/relationships" r:id="Ra6c96868218649d1"/>
  </p:notesMasterIdLst>
  <p:sldIdLst>
    <p:sldId xmlns:r="http://schemas.openxmlformats.org/officeDocument/2006/relationships" id="256" r:id="R6786aa3969ee44b1"/>
    <p:sldId xmlns:r="http://schemas.openxmlformats.org/officeDocument/2006/relationships" id="257" r:id="Ra3b12083737d4985"/>
    <p:sldId xmlns:r="http://schemas.openxmlformats.org/officeDocument/2006/relationships" id="258" r:id="R66c321a812d44a66"/>
    <p:sldId xmlns:r="http://schemas.openxmlformats.org/officeDocument/2006/relationships" id="259" r:id="R489b83ff84a64602"/>
    <p:sldId xmlns:r="http://schemas.openxmlformats.org/officeDocument/2006/relationships" id="260" r:id="Re641d0ae055b4c7b"/>
    <p:sldId xmlns:r="http://schemas.openxmlformats.org/officeDocument/2006/relationships" id="261" r:id="Re8b1f8d6d07c401e"/>
    <p:sldId xmlns:r="http://schemas.openxmlformats.org/officeDocument/2006/relationships" id="262" r:id="R1fca2457d4744f3c"/>
    <p:sldId xmlns:r="http://schemas.openxmlformats.org/officeDocument/2006/relationships" id="263" r:id="R81d53b85325f42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6270e49c9e4b0c" /><Relationship Type="http://schemas.openxmlformats.org/officeDocument/2006/relationships/slideMaster" Target="/ppt/slideMasters/slideMaster1.xml" Id="R4a4b0a20fec0496d" /><Relationship Type="http://schemas.openxmlformats.org/officeDocument/2006/relationships/notesMaster" Target="/ppt/notesMasters/notesMaster1.xml" Id="Ra6c96868218649d1" /><Relationship Type="http://schemas.openxmlformats.org/officeDocument/2006/relationships/presProps" Target="/ppt/presProps.xml" Id="R923b7e6ea8344a00" /><Relationship Type="http://schemas.openxmlformats.org/officeDocument/2006/relationships/tableStyles" Target="/ppt/tableStyles.xml" Id="R0fb08e0da7be403b" /><Relationship Type="http://schemas.openxmlformats.org/officeDocument/2006/relationships/slide" Target="/ppt/slides/slide1.xml" Id="R6786aa3969ee44b1" /><Relationship Type="http://schemas.openxmlformats.org/officeDocument/2006/relationships/slide" Target="/ppt/slides/slide2.xml" Id="Ra3b12083737d4985" /><Relationship Type="http://schemas.openxmlformats.org/officeDocument/2006/relationships/slide" Target="/ppt/slides/slide3.xml" Id="R66c321a812d44a66" /><Relationship Type="http://schemas.openxmlformats.org/officeDocument/2006/relationships/slide" Target="/ppt/slides/slide4.xml" Id="R489b83ff84a64602" /><Relationship Type="http://schemas.openxmlformats.org/officeDocument/2006/relationships/slide" Target="/ppt/slides/slide5.xml" Id="Re641d0ae055b4c7b" /><Relationship Type="http://schemas.openxmlformats.org/officeDocument/2006/relationships/slide" Target="/ppt/slides/slide6.xml" Id="Re8b1f8d6d07c401e" /><Relationship Type="http://schemas.openxmlformats.org/officeDocument/2006/relationships/slide" Target="/ppt/slides/slide7.xml" Id="R1fca2457d4744f3c" /><Relationship Type="http://schemas.openxmlformats.org/officeDocument/2006/relationships/slide" Target="/ppt/slides/slide8.xml" Id="R81d53b85325f42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61dafc1d33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fa3dea2364127" /><Relationship Type="http://schemas.openxmlformats.org/officeDocument/2006/relationships/notesMaster" Target="/ppt/notesMasters/notesMaster1.xml" Id="R56bce382cc8d40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f4aec7d8d940ee" /><Relationship Type="http://schemas.openxmlformats.org/officeDocument/2006/relationships/notesMaster" Target="/ppt/notesMasters/notesMaster1.xml" Id="R65200b9a66194c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b1cd0cc8a44d81" /><Relationship Type="http://schemas.openxmlformats.org/officeDocument/2006/relationships/notesMaster" Target="/ppt/notesMasters/notesMaster1.xml" Id="R57316834912043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969ae0fbc4e68" /><Relationship Type="http://schemas.openxmlformats.org/officeDocument/2006/relationships/notesMaster" Target="/ppt/notesMasters/notesMaster1.xml" Id="Ree128a58d62f4c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23625a7ff84d85" /><Relationship Type="http://schemas.openxmlformats.org/officeDocument/2006/relationships/notesMaster" Target="/ppt/notesMasters/notesMaster1.xml" Id="Rd58849c5bf0641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25e24de0504841" /><Relationship Type="http://schemas.openxmlformats.org/officeDocument/2006/relationships/notesMaster" Target="/ppt/notesMasters/notesMaster1.xml" Id="Rda5b603073e34e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fd4d74dd2b450a" /><Relationship Type="http://schemas.openxmlformats.org/officeDocument/2006/relationships/notesMaster" Target="/ppt/notesMasters/notesMaster1.xml" Id="R13df1ced3cfe4b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54d93ce579427c" /><Relationship Type="http://schemas.openxmlformats.org/officeDocument/2006/relationships/notesMaster" Target="/ppt/notesMasters/notesMaster1.xml" Id="Rcb6272da557049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6d1718a58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1ad9523cbd4b5e" /><Relationship Type="http://schemas.openxmlformats.org/officeDocument/2006/relationships/slideLayout" Target="/ppt/slideLayouts/slideLayout1.xml" Id="R7c3a38194d8749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3a38194d8749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d6f2743643da" /><Relationship Type="http://schemas.openxmlformats.org/officeDocument/2006/relationships/notesSlide" Target="/ppt/notesSlides/notesSlide1.xml" Id="R4304df7138f748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12532338247de" /><Relationship Type="http://schemas.openxmlformats.org/officeDocument/2006/relationships/notesSlide" Target="/ppt/notesSlides/notesSlide2.xml" Id="Rbfbebb9218c7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0132b54ce4b6e" /><Relationship Type="http://schemas.openxmlformats.org/officeDocument/2006/relationships/notesSlide" Target="/ppt/notesSlides/notesSlide3.xml" Id="R7cd4e22f696047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1c744d7bf4dfc" /><Relationship Type="http://schemas.openxmlformats.org/officeDocument/2006/relationships/notesSlide" Target="/ppt/notesSlides/notesSlide4.xml" Id="Rca8387f073ca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f835ca28a4662" /><Relationship Type="http://schemas.openxmlformats.org/officeDocument/2006/relationships/notesSlide" Target="/ppt/notesSlides/notesSlide5.xml" Id="R6654053b2ad74d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3adb85a114bf1" /><Relationship Type="http://schemas.openxmlformats.org/officeDocument/2006/relationships/notesSlide" Target="/ppt/notesSlides/notesSlide6.xml" Id="Rb9bee7fe3143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981fb86534433" /><Relationship Type="http://schemas.openxmlformats.org/officeDocument/2006/relationships/notesSlide" Target="/ppt/notesSlides/notesSlide7.xml" Id="Read3d916f50947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166ff02f04362" /><Relationship Type="http://schemas.openxmlformats.org/officeDocument/2006/relationships/notesSlide" Target="/ppt/notesSlides/notesSlide8.xml" Id="R42cb9a99b6784b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5B7F6-2651-4E93-AB5F-CF357863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B594B-5932-429F-817F-1773CF29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B225C-7000-446C-B88B-8FF06C5B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945"/>
                </a:solidFill>
              </a:defRPr>
            </a:pPr>
            <a:r>
              <a:rPr sz="1350" b="1">
                <a:solidFill>
                  <a:srgbClr val="D4A945"/>
                </a:solidFill>
              </a:rPr>
              <a:t>MODULE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69E37-EAB4-4043-8CA1-3160EF38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Allergies, intolerance and safer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9DBCB-A648-4176-BC6B-384B713A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What must a food designer verify before preparing food for a diagnosed need?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B6A75-D430-4D03-8203-6A3D8ABC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9"/>
                </a:solidFill>
              </a:defRPr>
            </a:pPr>
            <a:r>
              <a:rPr sz="1350" b="1">
                <a:solidFill>
                  <a:srgbClr val="E8F0E9"/>
                </a:solidFill>
              </a:rPr>
              <a:t>Food Technology · Year 9 Term 2</a:t>
            </a:r>
          </a:p>
        </p:txBody>
      </p:sp>
    </p:spTree>
    <p:extLst>
      <p:ext uri="{BB962C8B-B14F-4D97-AF65-F5344CB8AC3E}">
        <p14:creationId xmlns:p14="http://schemas.microsoft.com/office/powerpoint/2010/main" val="4157249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A1F28-7E08-40D3-A47F-56A90D3D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57883-E3D9-46B6-B856-2DC56257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40429-EF1E-42C6-B36F-21D4DEDB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B3402-1CE3-4AB9-B35E-F78A7BC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The question that drives this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2D425-7B6C-48B6-8EED-5B25F733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5B8F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8D6CC-40C7-49FB-903E-0D95382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B4F"/>
                </a:solidFill>
              </a:defRPr>
            </a:pPr>
            <a:r>
              <a:rPr sz="2700" b="1">
                <a:solidFill>
                  <a:srgbClr val="2F6B4F"/>
                </a:solidFill>
              </a:rPr>
              <a:t>What must a food designer verify before preparing food for a diagnosed need?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F320B-7BB7-4A33-868E-F703F050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4D5B"/>
                </a:solidFill>
              </a:defRPr>
            </a:pPr>
            <a:r>
              <a:rPr sz="2100" b="1">
                <a:solidFill>
                  <a:srgbClr val="924D5B"/>
                </a:solidFill>
              </a:rPr>
              <a:t>By the end, you should be able to…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FD6EA-4F23-4E6E-ADAF-5EBD94B5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3E04A-C7C9-44FD-869A-2A63AFB3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explain the evidence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C5FC7-0FB7-4B53-880C-0146C934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870EB-CF32-4688-83F0-3EE912A0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apply the idea to a food-design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90DD4-1E5E-4310-BB8C-E113F2D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1EBA4-CF41-4C06-8553-8718F899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justify what must happen next</a:t>
            </a:r>
          </a:p>
        </p:txBody>
      </p:sp>
    </p:spTree>
    <p:extLst>
      <p:ext uri="{BB962C8B-B14F-4D97-AF65-F5344CB8AC3E}">
        <p14:creationId xmlns:p14="http://schemas.microsoft.com/office/powerpoint/2010/main" val="1611175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F5590-668C-48A7-98EF-8F1A757B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A2AD6-E510-449B-8592-8CF2F294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4.1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8C52C-C6BF-4BC6-A764-28BE0BDD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C33E8-693E-4881-8C91-9143AA73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Allergy and intolerance are not interchangeable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B4DAC-A3EC-42C4-9630-039FDE23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Food allergy involves the immune system and can be life-threatening; intolerance is a different adverse reaction.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7FF64-89A2-4D1C-9CDA-3A7DADD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2987F-43B1-4F11-9427-25069FA7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6848D-F358-4121-9C1A-3C0C3136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2E8DA-9171-462F-AD04-A8149176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BEFF8-4F5B-44C5-8BCE-A553EC45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82601-DFE3-4B9C-9499-464FDF9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33135-09AF-4DAE-B3A9-02EE93F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DD33A-98BE-47E6-90D1-C9CFA433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A587F-6605-4F5A-84D2-5338542F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D7BA4-B031-4930-BF6D-EB217210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34B11-6360-492D-9C55-7A1EA91D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Students follow verified plans and procedures—they do not diagnose.</a:t>
            </a:r>
          </a:p>
        </p:txBody>
      </p:sp>
    </p:spTree>
    <p:extLst>
      <p:ext uri="{BB962C8B-B14F-4D97-AF65-F5344CB8AC3E}">
        <p14:creationId xmlns:p14="http://schemas.microsoft.com/office/powerpoint/2010/main" val="1085297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BED0A-1087-48E8-87C3-4717B70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FCF24-2BB1-41E1-B3EC-C96CB250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4.2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6E892-1208-41B8-9569-5D87252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36CA8-8D8A-47DB-A013-F5636357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Labels and workflow both matter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FD895-393D-4672-BB2B-8A298FF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Read the full current label every time and retain the packaging.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9D36F-BEB3-4279-94A9-AA3C3DF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9EC"/>
          </a:solidFill>
          <a:ln xmlns:a="http://schemas.openxmlformats.org/drawingml/2006/main" w="19050">
            <a:solidFill>
              <a:srgbClr val="924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F60E65-1A57-45BA-AB83-7A0650F7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CA229-EA85-4B3B-874E-0EBDDB2E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0B8F0-FFA3-4FB5-B5E8-E8BA8ED8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B28D3-908A-4D03-8475-528502E4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873F7-8C5F-427E-B49D-2C04D5D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4E68E-C197-490F-A9A3-DCDCDDFA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3A2C2-9465-426D-95EE-CC32E91D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37871-29B8-4BEB-8B4E-B1AE32A3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D5C27-FE3C-411D-9B74-E3963E19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1BB8E-295F-44C4-886D-1C3C3A42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Cross-contact can occur through hands, equipment, surfaces, storage or service.</a:t>
            </a:r>
          </a:p>
        </p:txBody>
      </p:sp>
    </p:spTree>
    <p:extLst>
      <p:ext uri="{BB962C8B-B14F-4D97-AF65-F5344CB8AC3E}">
        <p14:creationId xmlns:p14="http://schemas.microsoft.com/office/powerpoint/2010/main" val="1933970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C405C-C08B-4305-839D-82A5927D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E2312-0669-40CA-9CAD-F3C97595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4.3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51339-DCA1-499C-B1DC-8D75575A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8608A-CD12-40CD-A62B-E2253413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A safe plan has a stop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0F272-A05C-445C-BB32-270AE21D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Trace purchasing, storage, preparation, cooking, service and clean-up.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EDA6C-D13B-4658-9352-F35F52A5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D4A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0B6CC-3D62-42B1-8880-99865C3E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D1011-1F53-48E6-AECF-C895E747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008126-AD39-499A-B9A8-643BEA32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702A3-8981-4BB0-8CD8-08A4A0A9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1655D-EFF6-48C3-AE21-43D0EFA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FE0DC-11E7-4E93-AF9A-EE6890AC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BB40D-30F9-4460-9681-E6E09BFA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B8C6B-AAED-4946-B342-1F882E55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EC38B-88B2-4048-A174-6608EBDF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63D79-70C8-43EB-B0B9-D0FC6079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If information or controls are inadequate, pause and refer to the teacher.</a:t>
            </a:r>
          </a:p>
        </p:txBody>
      </p:sp>
    </p:spTree>
    <p:extLst>
      <p:ext uri="{BB962C8B-B14F-4D97-AF65-F5344CB8AC3E}">
        <p14:creationId xmlns:p14="http://schemas.microsoft.com/office/powerpoint/2010/main" val="1849424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FB24B8-B647-40D4-97D7-ED83DB6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A2999-7CB6-4128-B953-CF40237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Worked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40CF9-6EFE-4BAE-8B2C-ED4BD79A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A3C90-0130-4E46-8B29-4EA85125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A decision worth slowing 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CF933-BDA6-4388-AF74-8A92F93E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4607B-117B-4B00-BF02-82041317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229"/>
                </a:solidFill>
              </a:defRPr>
            </a:pPr>
            <a:r>
              <a:rPr sz="2250" b="0">
                <a:solidFill>
                  <a:srgbClr val="243229"/>
                </a:solidFill>
              </a:rPr>
              <a:t>The original package is missing. A classmate remembers the product was safe last year and suggests picking visible nuts off the finished food.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1460A-BBE1-47E7-AEF4-4C3E5C6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64A10-36DD-47E1-B89D-8691A546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USE THIS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5269B-4BD4-40AD-88EE-A7DBDE66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1  Verify the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DC24C-1979-452F-882C-DDA5E53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76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2  Trace the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3AAC5-A74C-4CF0-8A29-B2FDAFB4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3  Test the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BAAD4-CB20-4EED-8DA8-DC8D5798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229"/>
                </a:solidFill>
              </a:defRPr>
            </a:pPr>
            <a:r>
              <a:rPr sz="1650" b="1">
                <a:solidFill>
                  <a:srgbClr val="243229"/>
                </a:solidFill>
              </a:rPr>
              <a:t>4  State the stop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17B8B-6E17-4B7C-9654-BF961FD9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24D5B"/>
                </a:solidFill>
              </a:defRPr>
            </a:pPr>
            <a:r>
              <a:rPr sz="1875" b="1">
                <a:solidFill>
                  <a:srgbClr val="924D5B"/>
                </a:solidFill>
              </a:rPr>
              <a:t>Identify the unsafe assumptions, the required stop point and the approved next action.</a:t>
            </a:r>
          </a:p>
        </p:txBody>
      </p:sp>
    </p:spTree>
    <p:extLst>
      <p:ext uri="{BB962C8B-B14F-4D97-AF65-F5344CB8AC3E}">
        <p14:creationId xmlns:p14="http://schemas.microsoft.com/office/powerpoint/2010/main" val="127888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BF848-C15D-4855-8BF7-E797A03F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EAE64-0A13-4CB6-A161-8F168BD3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60F9B-2BE3-4A9F-A2FD-36B5786B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7568D-B012-4287-9854-846F00B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Make the reasoning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570E0-CDC0-4A2E-943B-7F72AC0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4E2A7-20C6-42C1-8810-4E719CC4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verified?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70A7A-77FA-41A8-ADC3-764F35DD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Name the person, need and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2E9AC-6BCD-44F6-8B25-7D082E1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24D5B"/>
                </a:solidFill>
              </a:defRPr>
            </a:pPr>
            <a:r>
              <a:rPr sz="2250" b="1">
                <a:solidFill>
                  <a:srgbClr val="924D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D72A6-436E-4B6E-9571-29E54E7F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assumed?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1B8C4-9596-4958-91E7-D8C1A57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Do not disguise a guess as a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3779D-00C4-4035-8F26-E645B31F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A945"/>
                </a:solidFill>
              </a:defRPr>
            </a:pPr>
            <a:r>
              <a:rPr sz="225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E8236-D584-41AE-858B-E9C96B58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Which evidence matters?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489C6-3800-4C45-897F-172999D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Use authority, currency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D4B3A-79D6-4076-8B52-48CC733B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157B5-6716-455F-8627-F7C6E0FD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must happen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8C974-4A7E-4724-8A61-4DD2CE23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Recommend, refer, improve—or stop.</a:t>
            </a:r>
          </a:p>
        </p:txBody>
      </p:sp>
    </p:spTree>
    <p:extLst>
      <p:ext uri="{BB962C8B-B14F-4D97-AF65-F5344CB8AC3E}">
        <p14:creationId xmlns:p14="http://schemas.microsoft.com/office/powerpoint/2010/main" val="719656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3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CD0B3-B672-4863-9901-CD04801E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Before you leave this module…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94E44-EFEE-4293-90B1-0F9FE412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E8F0E9"/>
                </a:solidFill>
              </a:defRPr>
            </a:pPr>
            <a:r>
              <a:rPr sz="2400" b="0">
                <a:solidFill>
                  <a:srgbClr val="E8F0E9"/>
                </a:solidFill>
              </a:rPr>
              <a:t>Write one design decision you can now justify, the evidence behind it, and one boundary you will not cross.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7D118-606C-4A8A-9BCA-90568003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6D2DC-7CF0-4E2F-B89A-5A0B895B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Evidence + context + a clear next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6593B-33CD-4BF7-9762-F13FE6A2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E9"/>
                </a:solidFill>
              </a:defRPr>
            </a:pPr>
            <a:r>
              <a:rPr sz="1200" b="0">
                <a:solidFill>
                  <a:srgbClr val="E8F0E9"/>
                </a:solidFill>
              </a:rPr>
              <a:t>Sources: Healthdirect; Allergy &amp; Anaphylaxis Australia; NSW Food Authority; school procedures.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248A2-8A59-45CB-AA42-9A809255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945"/>
                </a:solidFill>
              </a:defRPr>
            </a:pPr>
            <a:r>
              <a:rPr sz="1200" b="1">
                <a:solidFill>
                  <a:srgbClr val="D4A945"/>
                </a:solidFill>
              </a:rPr>
              <a:t>Educational information only · Individual plans and school procedures take priority.</a:t>
            </a:r>
          </a:p>
        </p:txBody>
      </p:sp>
    </p:spTree>
    <p:extLst>
      <p:ext uri="{BB962C8B-B14F-4D97-AF65-F5344CB8AC3E}">
        <p14:creationId xmlns:p14="http://schemas.microsoft.com/office/powerpoint/2010/main" val="1438347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2026-08-19T00:40:15.8920000Z</dcterms:created>
  <dcterms:modified xsi:type="dcterms:W3CDTF">2026-08-19T00:40:15.8920000Z</dcterms:modified>
</coreProperties>
</file>